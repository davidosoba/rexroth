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3" r:id="rId2"/>
    <p:sldId id="274" r:id="rId3"/>
    <p:sldId id="275" r:id="rId4"/>
    <p:sldId id="276" r:id="rId5"/>
    <p:sldId id="281" r:id="rId6"/>
    <p:sldId id="278" r:id="rId7"/>
    <p:sldId id="279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7B2D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Pump Wear</c:v>
                </c:pt>
                <c:pt idx="1">
                  <c:v>Valve Leakage</c:v>
                </c:pt>
                <c:pt idx="2">
                  <c:v>Contamination</c:v>
                </c:pt>
                <c:pt idx="3">
                  <c:v>Cylinder Drift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2-4DF9-AC3A-A7A79C2BD1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Cost ($K)</c:v>
                </c:pt>
              </c:strCache>
            </c:strRef>
          </c:tx>
          <c:spPr>
            <a:solidFill>
              <a:srgbClr val="D4A89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Pump Wear</c:v>
                </c:pt>
                <c:pt idx="1">
                  <c:v>Valve Leakage</c:v>
                </c:pt>
                <c:pt idx="2">
                  <c:v>Contamination</c:v>
                </c:pt>
                <c:pt idx="3">
                  <c:v>Cylinder Drift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11</c:v>
                </c:pt>
                <c:pt idx="2">
                  <c:v>20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92-4DF9-AC3A-A7A79C2BD1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D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79-400C-8E80-A11E65CA236C}"/>
              </c:ext>
            </c:extLst>
          </c:dPt>
          <c:dPt>
            <c:idx val="1"/>
            <c:bubble3D val="0"/>
            <c:spPr>
              <a:solidFill>
                <a:srgbClr val="A84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79-400C-8E80-A11E65CA236C}"/>
              </c:ext>
            </c:extLst>
          </c:dPt>
          <c:dPt>
            <c:idx val="2"/>
            <c:bubble3D val="0"/>
            <c:spPr>
              <a:solidFill>
                <a:srgbClr val="D4A8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79-400C-8E80-A11E65CA236C}"/>
              </c:ext>
            </c:extLst>
          </c:dPt>
          <c:cat>
            <c:strRef>
              <c:f>Sheet1!$A$2:$A$4</c:f>
              <c:strCache>
                <c:ptCount val="3"/>
                <c:pt idx="0">
                  <c:v>Preventive (65%)</c:v>
                </c:pt>
                <c:pt idx="1">
                  <c:v>Reactive (27%)</c:v>
                </c:pt>
                <c:pt idx="2">
                  <c:v>Inspection (8%)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14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79-400C-8E80-A11E65CA23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Rate</c:v>
                </c:pt>
              </c:strCache>
            </c:strRef>
          </c:tx>
          <c:spPr>
            <a:solidFill>
              <a:srgbClr val="7B2D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HPU_01</c:v>
                </c:pt>
                <c:pt idx="1">
                  <c:v>HPU_02</c:v>
                </c:pt>
                <c:pt idx="2">
                  <c:v>HPU_03</c:v>
                </c:pt>
                <c:pt idx="3">
                  <c:v>HPU_04</c:v>
                </c:pt>
                <c:pt idx="4">
                  <c:v>HPU_05</c:v>
                </c:pt>
                <c:pt idx="5">
                  <c:v>HPU_06</c:v>
                </c:pt>
                <c:pt idx="6">
                  <c:v>HPU_07</c:v>
                </c:pt>
                <c:pt idx="7">
                  <c:v>HPU_08</c:v>
                </c:pt>
                <c:pt idx="8">
                  <c:v>HPU_09</c:v>
                </c:pt>
                <c:pt idx="9">
                  <c:v>HPU_10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0.23</c:v>
                </c:pt>
                <c:pt idx="1">
                  <c:v>0.17</c:v>
                </c:pt>
                <c:pt idx="2">
                  <c:v>0.08</c:v>
                </c:pt>
                <c:pt idx="3">
                  <c:v>0.2</c:v>
                </c:pt>
                <c:pt idx="4">
                  <c:v>0.17</c:v>
                </c:pt>
                <c:pt idx="5">
                  <c:v>0.13</c:v>
                </c:pt>
                <c:pt idx="6">
                  <c:v>0.17</c:v>
                </c:pt>
                <c:pt idx="7">
                  <c:v>0.23</c:v>
                </c:pt>
                <c:pt idx="8">
                  <c:v>0.08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6-414E-B66E-ED9165C23D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Vibration (g)</c:v>
                </c:pt>
              </c:strCache>
            </c:strRef>
          </c:tx>
          <c:spPr>
            <a:solidFill>
              <a:srgbClr val="A84A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Contamination</c:v>
                </c:pt>
                <c:pt idx="1">
                  <c:v>Pump Wear</c:v>
                </c:pt>
                <c:pt idx="2">
                  <c:v>Cyl. Drift</c:v>
                </c:pt>
                <c:pt idx="3">
                  <c:v>Valve Leakage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0.3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A-4FCC-A547-E625E13E28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Repair Cost ($K)</c:v>
                </c:pt>
              </c:strCache>
            </c:strRef>
          </c:tx>
          <c:spPr>
            <a:solidFill>
              <a:srgbClr val="7B2D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HPU_01</c:v>
                </c:pt>
                <c:pt idx="1">
                  <c:v>HPU_02</c:v>
                </c:pt>
                <c:pt idx="2">
                  <c:v>HPU_03</c:v>
                </c:pt>
                <c:pt idx="3">
                  <c:v>HPU_04</c:v>
                </c:pt>
                <c:pt idx="4">
                  <c:v>HPU_05</c:v>
                </c:pt>
                <c:pt idx="5">
                  <c:v>HPU_06</c:v>
                </c:pt>
                <c:pt idx="6">
                  <c:v>HPU_07</c:v>
                </c:pt>
                <c:pt idx="7">
                  <c:v>HPU_08</c:v>
                </c:pt>
                <c:pt idx="8">
                  <c:v>HPU_09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25</c:v>
                </c:pt>
                <c:pt idx="2">
                  <c:v>9</c:v>
                </c:pt>
                <c:pt idx="3">
                  <c:v>29</c:v>
                </c:pt>
                <c:pt idx="4">
                  <c:v>14</c:v>
                </c:pt>
                <c:pt idx="5">
                  <c:v>23</c:v>
                </c:pt>
                <c:pt idx="6">
                  <c:v>12</c:v>
                </c:pt>
                <c:pt idx="7">
                  <c:v>30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7-4A56-AAEC-FF7605EC81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Anomaly Rate</c:v>
                </c:pt>
              </c:strCache>
            </c:strRef>
          </c:tx>
          <c:spPr>
            <a:solidFill>
              <a:srgbClr val="7B2D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5D-49A4-9A22-13D81C6974A3}"/>
              </c:ext>
            </c:extLst>
          </c:dPt>
          <c:dPt>
            <c:idx val="1"/>
            <c:invertIfNegative val="0"/>
            <c:bubble3D val="0"/>
            <c:spPr>
              <a:solidFill>
                <a:srgbClr val="A84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5D-49A4-9A22-13D81C6974A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1A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Synthetic</c:v>
                </c:pt>
                <c:pt idx="1">
                  <c:v>Mineral Oil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</c:v>
                </c:pt>
                <c:pt idx="1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5D-49A4-9A22-13D81C6974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D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45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A84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 Strategy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943600" cy="36576"/>
          </a:xfrm>
          <a:prstGeom prst="rect">
            <a:avLst/>
          </a:prstGeom>
          <a:solidFill>
            <a:srgbClr val="A84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0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Analytics Insight Report  |  January – February 2024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1920240" cy="118872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864K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Readings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108960"/>
            <a:ext cx="1920240" cy="118872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517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108960"/>
            <a:ext cx="1920240" cy="118872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0060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0060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3108960"/>
            <a:ext cx="1920240" cy="118872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94944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$183K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Repair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by: David Osoba  |  Amdari Work Experience Programme  | 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369019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x"/>
                                    </p:val>
                                  </p:tav>
                                  <p:tav tm="100000">
                                    <p:val>
                                      <p:strVal val="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1" dur="500" fill="hold"/>
                                  <p:tgtEl>
                                    <p:spTgt spid="11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x"/>
                                    </p:val>
                                  </p:tav>
                                  <p:tav tm="100000">
                                    <p:val>
                                      <p:strVal val="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" dur="500" fill="hold"/>
                                  <p:tgtEl>
                                    <p:spTgt spid="1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x"/>
                                    </p:val>
                                  </p:tav>
                                  <p:tav tm="100000">
                                    <p:val>
                                      <p:strVal val="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50"/>
                      </p:stCondLst>
                      <p:childTnLst>
                        <p:par>
                          <p:cTn id="19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" dur="500" fill="hold"/>
                                  <p:tgtEl>
                                    <p:spTgt spid="17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ppt_x"/>
                                    </p:val>
                                  </p:tav>
                                  <p:tav tm="100000">
                                    <p:val>
                                      <p:strVal val="ppt_x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4747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operates hydraulic systems critical to continuous production across manufacturing, energy, and heavy machinery sectors.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maintenance is largely reactive, with failures caused by pressure fluctuations, temperature variations, and contamination — resulting in significant downtime and high repair costs.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builds a data analytics foundation to enable the shift toward proactive, condition-based maintenance.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97680" cy="34747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Ingestion &amp; Validation</a:t>
            </a:r>
            <a:endParaRPr lang="en-US" sz="12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864,000 sensor readings loaded into PostgreSQL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</a:t>
            </a:r>
            <a:endParaRPr lang="en-US" sz="12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Forward-fill interpolation for 2,590 dropout events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Transformation</a:t>
            </a:r>
            <a:endParaRPr lang="en-US" sz="12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Hourly aggregation to 14,400 structured rows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ERD &amp; Data Modelling</a:t>
            </a:r>
            <a:endParaRPr lang="en-US" sz="12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 schema across 4 tables in PostgreSQL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Dashboard</a:t>
            </a:r>
            <a:endParaRPr lang="en-US" sz="12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3-page interactive dashboard for maintenance insights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 |  Data Analytics Insight Report  |  2024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03121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5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&amp; MAINTENANCE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2860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Failure Events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9 of 10 machines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2316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$183K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Repair 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$20K per event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61772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106.7h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Downtime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HPU_04 highest at 22h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1228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18x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Seal Replacements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replaced component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Mode Frequency &amp; Avg Cost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28600" y="233172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39496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 Strategy Split</a:t>
            </a:r>
            <a:endParaRPr lang="en-US" sz="13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5349240" y="2331720"/>
          <a:ext cx="35661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 |  Data Analytics Insight Report  |  2024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9359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5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5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HEALTH &amp; ANOMALY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2860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Anomaly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Fleet-wide average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2316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HPU_01 &amp; HPU_08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anomaly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61772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HPU_10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anomalies recorded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777240"/>
            <a:ext cx="2011680" cy="114300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12280" y="8412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2,590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1353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9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Dropout Events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645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Handled via forward-fill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Anomaly Rate per Machine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28600" y="233172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39496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Vibration by Failure Mode (g)</a:t>
            </a:r>
            <a:endParaRPr lang="en-US" sz="13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5349240" y="2331720"/>
          <a:ext cx="35661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 |  Data Analytics Insight Report  |  2024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717176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5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5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&amp; OPERATIONAL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219456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Projected Cost Avoidance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30–50% industry benchmark downtime reduction: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645920" cy="82296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$55K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Conservative (30%)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1645920" cy="822960"/>
          </a:xfrm>
          <a:prstGeom prst="rect">
            <a:avLst/>
          </a:prstGeom>
          <a:solidFill>
            <a:srgbClr val="A84A0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2860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$92K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2121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(50%)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4297680" cy="219456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Performance vs Target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298448"/>
            <a:ext cx="4114800" cy="347472"/>
          </a:xfrm>
          <a:prstGeom prst="rect">
            <a:avLst/>
          </a:prstGeom>
          <a:solidFill>
            <a:srgbClr val="EDE0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1335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Ratio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3350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20%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1335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691640"/>
            <a:ext cx="4114800" cy="347472"/>
          </a:xfrm>
          <a:prstGeom prst="rect">
            <a:avLst/>
          </a:prstGeom>
          <a:solidFill>
            <a:srgbClr val="F5ED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00600" y="1728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Cost/Failure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7282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&lt;$25K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15200" y="1728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084832"/>
            <a:ext cx="4114800" cy="347472"/>
          </a:xfrm>
          <a:prstGeom prst="rect">
            <a:avLst/>
          </a:prstGeom>
          <a:solidFill>
            <a:srgbClr val="EDE0D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2121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Baseline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121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$50K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0" y="2121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$20K avg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478024"/>
            <a:ext cx="4114800" cy="347472"/>
          </a:xfrm>
          <a:prstGeom prst="rect">
            <a:avLst/>
          </a:prstGeom>
          <a:solidFill>
            <a:srgbClr val="F5ED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00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Maintenance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 actions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Repair Cost by Machine ($K)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228600" y="3383280"/>
          <a:ext cx="50292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/>
          <p:nvPr/>
        </p:nvSpPr>
        <p:spPr>
          <a:xfrm>
            <a:off x="539496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vs Mineral Oil — Anomaly Rate</a:t>
            </a:r>
            <a:endParaRPr lang="en-US" sz="130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5349240" y="3383280"/>
          <a:ext cx="35661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 |  Data Analytics Insight Report  |  2024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10423E-F556-4D4B-A267-33D8BEB73F76}"/>
              </a:ext>
            </a:extLst>
          </p:cNvPr>
          <p:cNvSpPr txBox="1"/>
          <p:nvPr/>
        </p:nvSpPr>
        <p:spPr>
          <a:xfrm>
            <a:off x="4800600" y="1092200"/>
            <a:ext cx="1651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7B2D00"/>
                </a:solidFill>
                <a:latin typeface="Times New Roman"/>
                <a:cs typeface="Times New Roman"/>
              </a:rPr>
              <a:t>KPI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F83ACC-CB81-4FF9-AD8B-CA06CB02AA84}"/>
              </a:ext>
            </a:extLst>
          </p:cNvPr>
          <p:cNvSpPr txBox="1"/>
          <p:nvPr/>
        </p:nvSpPr>
        <p:spPr>
          <a:xfrm>
            <a:off x="6400800" y="1092200"/>
            <a:ext cx="914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64748B"/>
                </a:solidFill>
                <a:latin typeface="Times New Roman"/>
                <a:cs typeface="Times New Roman"/>
              </a:rPr>
              <a:t>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FB485-7A73-4804-B6F0-81E49329549F}"/>
              </a:ext>
            </a:extLst>
          </p:cNvPr>
          <p:cNvSpPr txBox="1"/>
          <p:nvPr/>
        </p:nvSpPr>
        <p:spPr>
          <a:xfrm>
            <a:off x="7315200" y="1092200"/>
            <a:ext cx="13716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sz="1000" b="1">
                <a:solidFill>
                  <a:srgbClr val="7B2D00"/>
                </a:solidFill>
                <a:latin typeface="Times New Roman"/>
                <a:cs typeface="Times New Roman"/>
              </a:rPr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15555783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5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09728" cy="141732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7548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Pump Wear — Primary Threat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2161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frequent failure mode (3 events), highest avg repair cost at $28K. Primary target for predictive intervention.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4114800" cy="14173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109728" cy="141732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HPU_08 — Highest Risk Machine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8163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23% anomaly rate, $30K repair cost, only 2 preventive actions. Requires immediate prioritisation.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14173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109728" cy="141732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95604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Pressure — Earliest Warning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12161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Pressure declines from ~135 bar to ~107 bar as RUL approaches zero, deviating before temperature and flow.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417320"/>
          </a:xfrm>
          <a:prstGeom prst="rect">
            <a:avLst/>
          </a:prstGeom>
          <a:solidFill>
            <a:srgbClr val="F5EDE8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109728" cy="141732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56048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Seal Degradation — Fleet-Wide Issue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8163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Seals replaced 18 times — most frequent component. A proactive seal replacement programme is recommended.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7B2D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 pressure thresholds on HPU_01 &amp; HPU_08  </a:t>
            </a: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Proactive seal replacement programme  </a:t>
            </a: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Evaluate synthetic fluid across fleet  </a:t>
            </a:r>
            <a:r>
              <a:rPr lang="en-US" sz="11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Target reactive ratio below 20%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1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Bosch Rexroth AG  |  Data Analytics Insight Report  |  2024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568048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0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40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60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80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D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A84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data analytics investigation has successfully transformed 864,000 rows of raw sensor telemetry into structured, actionable insights for the Bosch Rexroth AG maintenance team.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outcomes include identification of pump wear as the primary failure mode, HPU_08 as the highest-risk machine, pressure as the earliest warning sensor, and a meaningful correlation between synthetic fluid and reduced anomaly rates.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findings provide the data foundation for the machine learning team to build failure classification and RUL prediction models, positioning Bosch Rexroth AG to make a meaningful shift from reactive to proactive, data-driven maintenance.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474720"/>
            <a:ext cx="1920240" cy="109728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864K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Processed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474720"/>
            <a:ext cx="1920240" cy="109728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5176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Pages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474720"/>
            <a:ext cx="1920240" cy="109728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$55K–$92K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Avoidance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474720"/>
            <a:ext cx="1920240" cy="1097280"/>
          </a:xfrm>
          <a:prstGeom prst="rect">
            <a:avLst/>
          </a:prstGeom>
          <a:solidFill>
            <a:srgbClr val="5C1E00"/>
          </a:solidFill>
          <a:ln/>
          <a:effectLst>
            <a:outerShdw blurRad="63500" dist="50800" dir="5400000" rotWithShape="0">
              <a:srgbClr val="000000">
                <a:alpha val="55000"/>
              </a:srgbClr>
            </a:outerShdw>
          </a:effectLst>
          <a:sp3d>
            <a:bevelT w="44450" h="31750"/>
          </a:sp3d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949440" y="3547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4005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Ratio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 |  David Osoba  |  Amdari Work Experience Programme  |  2024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195183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25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75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A6F1AE-B041-4335-8933-C0853DA5063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6782fb8-0d0f-4955-9ec8-ed2d28f97ff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On-screen Show (16:9)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Bosch Rexroth AG - Predictive Maintenance Data Analytics</dc:title>
  <dc:subject>PptxGenJS Presentation</dc:subject>
  <dc:creator>David</dc:creator>
  <cp:lastModifiedBy>David Osoba</cp:lastModifiedBy>
  <cp:revision>2</cp:revision>
  <dcterms:created xsi:type="dcterms:W3CDTF">2026-06-04T01:36:14Z</dcterms:created>
  <dcterms:modified xsi:type="dcterms:W3CDTF">2026-06-04T02:17:23Z</dcterms:modified>
</cp:coreProperties>
</file>